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2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A71B9932-C8D5-423B-B858-D002225AA4F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8696845-0841-4B8B-B8DE-F3CE9B848862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25mcmc27 Rishabh Omar</a:t>
            </a:r>
          </a:p>
          <a:p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Blog Management System (Wikipedia)</a:t>
            </a:r>
          </a:p>
        </p:txBody>
      </p:sp>
    </p:spTree>
    <p:extLst>
      <p:ext uri="{BB962C8B-B14F-4D97-AF65-F5344CB8AC3E}">
        <p14:creationId xmlns:p14="http://schemas.microsoft.com/office/powerpoint/2010/main" val="303513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blob:https://web.whatsapp.com/f32a4ccf-375b-4101-9665-1046ee27cbe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blob:https://web.whatsapp.com/f32a4ccf-375b-4101-9665-1046ee27cbe6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blob:https://web.whatsapp.com/f32a4ccf-375b-4101-9665-1046ee27cbe6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blob:https://web.whatsapp.com/f32a4ccf-375b-4101-9665-1046ee27cbe6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937"/>
            <a:ext cx="9034463" cy="677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17575" y="6248400"/>
            <a:ext cx="1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ER- diagram</a:t>
            </a:r>
          </a:p>
        </p:txBody>
      </p:sp>
    </p:spTree>
    <p:extLst>
      <p:ext uri="{BB962C8B-B14F-4D97-AF65-F5344CB8AC3E}">
        <p14:creationId xmlns:p14="http://schemas.microsoft.com/office/powerpoint/2010/main" val="72654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24600" y="60198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Relational Schema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87112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867400" y="5715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Relational Schema</a:t>
            </a:r>
          </a:p>
        </p:txBody>
      </p:sp>
    </p:spTree>
    <p:extLst>
      <p:ext uri="{BB962C8B-B14F-4D97-AF65-F5344CB8AC3E}">
        <p14:creationId xmlns:p14="http://schemas.microsoft.com/office/powerpoint/2010/main" val="4126927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1"/>
            <a:ext cx="87630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1000" y="3429000"/>
            <a:ext cx="8534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USER – ROLE</a:t>
            </a:r>
          </a:p>
          <a:p>
            <a:r>
              <a:rPr lang="en-US" b="1" dirty="0"/>
              <a:t> Type:</a:t>
            </a:r>
          </a:p>
          <a:p>
            <a:r>
              <a:rPr lang="en-US" b="1" dirty="0"/>
              <a:t>Many-to-Many (M:N)</a:t>
            </a:r>
            <a:endParaRPr lang="en-US" dirty="0"/>
          </a:p>
          <a:p>
            <a:r>
              <a:rPr lang="en-US" dirty="0"/>
              <a:t>One </a:t>
            </a:r>
            <a:r>
              <a:rPr lang="en-US" b="1" dirty="0"/>
              <a:t>User</a:t>
            </a:r>
            <a:r>
              <a:rPr lang="en-US" dirty="0"/>
              <a:t> can have </a:t>
            </a:r>
            <a:r>
              <a:rPr lang="en-US" b="1" dirty="0"/>
              <a:t>many Roles</a:t>
            </a:r>
            <a:r>
              <a:rPr lang="en-US" dirty="0"/>
              <a:t> (for example: Admin, Editor, Viewer).</a:t>
            </a:r>
          </a:p>
          <a:p>
            <a:r>
              <a:rPr lang="en-US" dirty="0"/>
              <a:t>One </a:t>
            </a:r>
            <a:r>
              <a:rPr lang="en-US" b="1" dirty="0"/>
              <a:t>Role</a:t>
            </a:r>
            <a:r>
              <a:rPr lang="en-US" dirty="0"/>
              <a:t> can be assigned to </a:t>
            </a:r>
            <a:r>
              <a:rPr lang="en-US" b="1" dirty="0"/>
              <a:t>many Users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many-to-many</a:t>
            </a:r>
            <a:r>
              <a:rPr lang="en-US" dirty="0"/>
              <a:t> relationship cannot be directly implemented in a relational database.</a:t>
            </a:r>
            <a:br>
              <a:rPr lang="en-US" dirty="0"/>
            </a:br>
            <a:r>
              <a:rPr lang="en-US" dirty="0"/>
              <a:t>So, we </a:t>
            </a:r>
            <a:r>
              <a:rPr lang="en-US" b="1" dirty="0"/>
              <a:t>break it down</a:t>
            </a:r>
            <a:r>
              <a:rPr lang="en-US" dirty="0"/>
              <a:t> into two </a:t>
            </a:r>
            <a:r>
              <a:rPr lang="en-US" b="1" dirty="0"/>
              <a:t>one-to-many</a:t>
            </a:r>
            <a:r>
              <a:rPr lang="en-US" dirty="0"/>
              <a:t> relationships using an </a:t>
            </a:r>
            <a:r>
              <a:rPr lang="en-US" b="1" dirty="0"/>
              <a:t>intermediate (bridge) table</a:t>
            </a:r>
            <a:r>
              <a:rPr lang="en-US" dirty="0"/>
              <a:t> called </a:t>
            </a:r>
            <a:r>
              <a:rPr lang="en-US" dirty="0" err="1"/>
              <a:t>User_role</a:t>
            </a:r>
            <a:r>
              <a:rPr lang="en-US" dirty="0"/>
              <a:t>.</a:t>
            </a:r>
          </a:p>
          <a:p>
            <a:r>
              <a:rPr lang="en-US" dirty="0"/>
              <a:t>This table connects the User and Role tables by storing their IDs.</a:t>
            </a:r>
          </a:p>
        </p:txBody>
      </p:sp>
    </p:spTree>
    <p:extLst>
      <p:ext uri="{BB962C8B-B14F-4D97-AF65-F5344CB8AC3E}">
        <p14:creationId xmlns:p14="http://schemas.microsoft.com/office/powerpoint/2010/main" val="73867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88167" y="2985796"/>
            <a:ext cx="8763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– PERMISSION</a:t>
            </a:r>
          </a:p>
          <a:p>
            <a:r>
              <a:rPr lang="en-US" b="1" dirty="0"/>
              <a:t>Many-to-Many (M:N)</a:t>
            </a:r>
          </a:p>
          <a:p>
            <a:r>
              <a:rPr lang="en-US" b="1" dirty="0"/>
              <a:t>Explanation:</a:t>
            </a:r>
          </a:p>
          <a:p>
            <a:r>
              <a:rPr lang="en-US" dirty="0"/>
              <a:t>One </a:t>
            </a:r>
            <a:r>
              <a:rPr lang="en-US" b="1" dirty="0"/>
              <a:t>Role</a:t>
            </a:r>
            <a:r>
              <a:rPr lang="en-US" dirty="0"/>
              <a:t> can have </a:t>
            </a:r>
            <a:r>
              <a:rPr lang="en-US" b="1" dirty="0"/>
              <a:t>many Permissions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(Example: “Admin” role might have </a:t>
            </a:r>
            <a:r>
              <a:rPr lang="en-US" i="1" dirty="0"/>
              <a:t>Create</a:t>
            </a:r>
            <a:r>
              <a:rPr lang="en-US" dirty="0"/>
              <a:t>, </a:t>
            </a:r>
            <a:r>
              <a:rPr lang="en-US" i="1" dirty="0"/>
              <a:t>Update</a:t>
            </a:r>
            <a:r>
              <a:rPr lang="en-US" dirty="0"/>
              <a:t>, </a:t>
            </a:r>
            <a:r>
              <a:rPr lang="en-US" i="1" dirty="0"/>
              <a:t>Delete</a:t>
            </a:r>
            <a:r>
              <a:rPr lang="en-US" dirty="0"/>
              <a:t> permissions.)</a:t>
            </a:r>
          </a:p>
          <a:p>
            <a:r>
              <a:rPr lang="en-US" dirty="0"/>
              <a:t>One </a:t>
            </a:r>
            <a:r>
              <a:rPr lang="en-US" b="1" dirty="0"/>
              <a:t>Permission</a:t>
            </a:r>
            <a:r>
              <a:rPr lang="en-US" dirty="0"/>
              <a:t> can be assigned to </a:t>
            </a:r>
            <a:r>
              <a:rPr lang="en-US" b="1" dirty="0"/>
              <a:t>many Roles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(Example: The </a:t>
            </a:r>
            <a:r>
              <a:rPr lang="en-US" i="1" dirty="0"/>
              <a:t>Read</a:t>
            </a:r>
            <a:r>
              <a:rPr lang="en-US" dirty="0"/>
              <a:t> permission might belong to </a:t>
            </a:r>
            <a:r>
              <a:rPr lang="en-US" i="1" dirty="0"/>
              <a:t>Admin</a:t>
            </a:r>
            <a:r>
              <a:rPr lang="en-US" dirty="0"/>
              <a:t>, </a:t>
            </a:r>
            <a:r>
              <a:rPr lang="en-US" i="1" dirty="0"/>
              <a:t>Editor</a:t>
            </a:r>
            <a:r>
              <a:rPr lang="en-US" dirty="0"/>
              <a:t>, and </a:t>
            </a:r>
            <a:r>
              <a:rPr lang="en-US" i="1" dirty="0"/>
              <a:t>Viewer</a:t>
            </a:r>
            <a:r>
              <a:rPr lang="en-US" dirty="0"/>
              <a:t> roles.)</a:t>
            </a:r>
          </a:p>
          <a:p>
            <a:endParaRPr lang="en-US" dirty="0"/>
          </a:p>
          <a:p>
            <a:r>
              <a:rPr lang="en-US" dirty="0"/>
              <a:t>Relational databases </a:t>
            </a:r>
            <a:r>
              <a:rPr lang="en-US" b="1" dirty="0"/>
              <a:t>cannot directly store</a:t>
            </a:r>
            <a:r>
              <a:rPr lang="en-US" dirty="0"/>
              <a:t> many-to-many relationships.</a:t>
            </a:r>
            <a:br>
              <a:rPr lang="en-US" dirty="0"/>
            </a:br>
            <a:r>
              <a:rPr lang="en-US" dirty="0"/>
              <a:t>Hence, we </a:t>
            </a:r>
            <a:r>
              <a:rPr lang="en-US" b="1" dirty="0"/>
              <a:t>merge</a:t>
            </a:r>
            <a:r>
              <a:rPr lang="en-US" dirty="0"/>
              <a:t> this relationship by introducing an </a:t>
            </a:r>
            <a:r>
              <a:rPr lang="en-US" b="1" dirty="0"/>
              <a:t>intermediate (bridge) table</a:t>
            </a:r>
            <a:r>
              <a:rPr lang="en-US" dirty="0"/>
              <a:t> called </a:t>
            </a:r>
            <a:r>
              <a:rPr lang="en-US" dirty="0" err="1"/>
              <a:t>role_permission</a:t>
            </a:r>
            <a:r>
              <a:rPr lang="en-US" dirty="0"/>
              <a:t>.</a:t>
            </a:r>
          </a:p>
          <a:p>
            <a:r>
              <a:rPr lang="en-US" dirty="0"/>
              <a:t>This table connects each </a:t>
            </a:r>
            <a:r>
              <a:rPr lang="en-US" dirty="0" err="1"/>
              <a:t>role_id</a:t>
            </a:r>
            <a:r>
              <a:rPr lang="en-US" dirty="0"/>
              <a:t> with a </a:t>
            </a:r>
            <a:r>
              <a:rPr lang="en-US" dirty="0" err="1"/>
              <a:t>permission_id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68" y="158751"/>
            <a:ext cx="8763000" cy="2736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681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2743200"/>
            <a:ext cx="850392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USER – LOG</a:t>
            </a:r>
          </a:p>
          <a:p>
            <a:pPr marL="0" indent="0">
              <a:buNone/>
            </a:pPr>
            <a:r>
              <a:rPr lang="en-US" sz="2400" b="1" dirty="0"/>
              <a:t>One-to-Many (1:N)</a:t>
            </a:r>
          </a:p>
          <a:p>
            <a:r>
              <a:rPr lang="en-US" sz="2400" dirty="0"/>
              <a:t>One </a:t>
            </a:r>
            <a:r>
              <a:rPr lang="en-US" sz="2400" b="1" dirty="0"/>
              <a:t>User</a:t>
            </a:r>
            <a:r>
              <a:rPr lang="en-US" sz="2400" dirty="0"/>
              <a:t> can generate </a:t>
            </a:r>
            <a:r>
              <a:rPr lang="en-US" sz="2400" b="1" dirty="0"/>
              <a:t>many Logs</a:t>
            </a:r>
            <a:r>
              <a:rPr lang="en-US" sz="2400" dirty="0"/>
              <a:t> (for example: login, update, delete, etc.).</a:t>
            </a:r>
          </a:p>
          <a:p>
            <a:r>
              <a:rPr lang="en-US" sz="2400" dirty="0"/>
              <a:t>Each </a:t>
            </a:r>
            <a:r>
              <a:rPr lang="en-US" sz="2400" b="1" dirty="0"/>
              <a:t>Log</a:t>
            </a:r>
            <a:r>
              <a:rPr lang="en-US" sz="2400" dirty="0"/>
              <a:t> entry belongs to </a:t>
            </a:r>
            <a:r>
              <a:rPr lang="en-US" sz="2400" b="1" dirty="0"/>
              <a:t>one specific User</a:t>
            </a:r>
            <a:r>
              <a:rPr lang="en-US" sz="2400" dirty="0"/>
              <a:t>.</a:t>
            </a:r>
          </a:p>
          <a:p>
            <a:r>
              <a:rPr lang="en-US" sz="2400" dirty="0"/>
              <a:t>Hence, the relationship is </a:t>
            </a:r>
            <a:r>
              <a:rPr lang="en-US" sz="2400" b="1" dirty="0"/>
              <a:t>one-to-many</a:t>
            </a:r>
            <a:r>
              <a:rPr lang="en-US" sz="2400" dirty="0"/>
              <a:t> from User → Log.</a:t>
            </a:r>
          </a:p>
          <a:p>
            <a:pPr marL="0" indent="0">
              <a:buNone/>
            </a:pPr>
            <a:r>
              <a:rPr lang="en-US" sz="2400" dirty="0"/>
              <a:t>To represent this in a relational database:</a:t>
            </a:r>
            <a:br>
              <a:rPr lang="en-US" sz="2400" dirty="0"/>
            </a:br>
            <a:r>
              <a:rPr lang="en-US" sz="2400" dirty="0"/>
              <a:t>We place the </a:t>
            </a:r>
            <a:r>
              <a:rPr lang="en-US" sz="2400" b="1" dirty="0"/>
              <a:t>foreign key (</a:t>
            </a:r>
            <a:r>
              <a:rPr lang="en-US" sz="2400" b="1" dirty="0" err="1"/>
              <a:t>user_id</a:t>
            </a:r>
            <a:r>
              <a:rPr lang="en-US" sz="2400" b="1" dirty="0"/>
              <a:t>)</a:t>
            </a:r>
            <a:r>
              <a:rPr lang="en-US" sz="2400" dirty="0"/>
              <a:t> in the </a:t>
            </a:r>
            <a:r>
              <a:rPr lang="en-US" sz="2400" b="1" dirty="0"/>
              <a:t>Log</a:t>
            </a:r>
            <a:r>
              <a:rPr lang="en-US" sz="2400" dirty="0"/>
              <a:t> table, since multiple logs are related to a single user.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9916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8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3429000"/>
            <a:ext cx="8503920" cy="3200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USER – BLOCK</a:t>
            </a:r>
          </a:p>
          <a:p>
            <a:r>
              <a:rPr lang="en-US" dirty="0"/>
              <a:t>One-to-Many (1:N)</a:t>
            </a:r>
          </a:p>
          <a:p>
            <a:r>
              <a:rPr lang="en-US" dirty="0"/>
              <a:t>One </a:t>
            </a:r>
            <a:r>
              <a:rPr lang="en-US" b="1" dirty="0"/>
              <a:t>User</a:t>
            </a:r>
            <a:r>
              <a:rPr lang="en-US" dirty="0"/>
              <a:t> can be </a:t>
            </a:r>
            <a:r>
              <a:rPr lang="en-US" b="1" dirty="0"/>
              <a:t>blocked multiple times</a:t>
            </a:r>
            <a:r>
              <a:rPr lang="en-US" dirty="0"/>
              <a:t> (for example, for spam, abuse, etc., each with a different reason and timestamp).</a:t>
            </a:r>
          </a:p>
          <a:p>
            <a:r>
              <a:rPr lang="en-US" dirty="0"/>
              <a:t>Each </a:t>
            </a:r>
            <a:r>
              <a:rPr lang="en-US" b="1" dirty="0"/>
              <a:t>Block record</a:t>
            </a:r>
            <a:r>
              <a:rPr lang="en-US" dirty="0"/>
              <a:t> is associated with exactly </a:t>
            </a:r>
            <a:r>
              <a:rPr lang="en-US" b="1" dirty="0"/>
              <a:t>one User</a:t>
            </a:r>
            <a:r>
              <a:rPr lang="en-US" dirty="0"/>
              <a:t>.</a:t>
            </a:r>
          </a:p>
          <a:p>
            <a:r>
              <a:rPr lang="en-US" dirty="0"/>
              <a:t>So, this is a </a:t>
            </a:r>
            <a:r>
              <a:rPr lang="en-US" b="1" dirty="0"/>
              <a:t>one-to-many</a:t>
            </a:r>
            <a:r>
              <a:rPr lang="en-US" dirty="0"/>
              <a:t> relationship from </a:t>
            </a:r>
            <a:r>
              <a:rPr lang="en-US" b="1" dirty="0"/>
              <a:t>User → Block</a:t>
            </a:r>
            <a:r>
              <a:rPr lang="en-US" dirty="0"/>
              <a:t>.</a:t>
            </a:r>
          </a:p>
          <a:p>
            <a:r>
              <a:rPr lang="en-US" dirty="0"/>
              <a:t>We add a </a:t>
            </a:r>
            <a:r>
              <a:rPr lang="en-US" b="1" dirty="0"/>
              <a:t>foreign key (</a:t>
            </a:r>
            <a:r>
              <a:rPr lang="en-US" b="1" dirty="0" err="1"/>
              <a:t>user_id</a:t>
            </a:r>
            <a:r>
              <a:rPr lang="en-US" b="1" dirty="0"/>
              <a:t>)</a:t>
            </a:r>
            <a:r>
              <a:rPr lang="en-US" dirty="0"/>
              <a:t> in the </a:t>
            </a:r>
            <a:r>
              <a:rPr lang="en-US" b="1" dirty="0"/>
              <a:t>Block</a:t>
            </a:r>
            <a:r>
              <a:rPr lang="en-US" dirty="0"/>
              <a:t> table.</a:t>
            </a:r>
          </a:p>
          <a:p>
            <a:r>
              <a:rPr lang="en-US" dirty="0"/>
              <a:t>Each block record will store the </a:t>
            </a:r>
            <a:r>
              <a:rPr lang="en-US" b="1" dirty="0" err="1"/>
              <a:t>user_id</a:t>
            </a:r>
            <a:r>
              <a:rPr lang="en-US" dirty="0"/>
              <a:t> of the user who was blocked.</a:t>
            </a:r>
          </a:p>
          <a:p>
            <a:r>
              <a:rPr lang="en-US" dirty="0"/>
              <a:t>This ensures every block entry belongs to a single user.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198"/>
            <a:ext cx="8915400" cy="320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137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7368"/>
            <a:ext cx="8763000" cy="3476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5490" y="3886200"/>
            <a:ext cx="868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– REVISION</a:t>
            </a:r>
          </a:p>
          <a:p>
            <a:r>
              <a:rPr lang="en-US" dirty="0"/>
              <a:t>One-to-Many (1:N)</a:t>
            </a:r>
          </a:p>
          <a:p>
            <a:r>
              <a:rPr lang="en-US" dirty="0"/>
              <a:t>One </a:t>
            </a:r>
            <a:r>
              <a:rPr lang="en-US" b="1" dirty="0"/>
              <a:t>User</a:t>
            </a:r>
            <a:r>
              <a:rPr lang="en-US" dirty="0"/>
              <a:t> can make </a:t>
            </a:r>
            <a:r>
              <a:rPr lang="en-US" b="1" dirty="0"/>
              <a:t>many Revisions</a:t>
            </a:r>
            <a:r>
              <a:rPr lang="en-US" dirty="0"/>
              <a:t> (edits/updates) to different pages.</a:t>
            </a:r>
          </a:p>
          <a:p>
            <a:r>
              <a:rPr lang="en-US" dirty="0"/>
              <a:t>Each </a:t>
            </a:r>
            <a:r>
              <a:rPr lang="en-US" b="1" dirty="0"/>
              <a:t>Revision</a:t>
            </a:r>
            <a:r>
              <a:rPr lang="en-US" dirty="0"/>
              <a:t> is made by exactly </a:t>
            </a:r>
            <a:r>
              <a:rPr lang="en-US" b="1" dirty="0"/>
              <a:t>one User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 add the </a:t>
            </a:r>
            <a:r>
              <a:rPr lang="en-US" b="1" dirty="0"/>
              <a:t>foreign key (</a:t>
            </a:r>
            <a:r>
              <a:rPr lang="en-US" b="1" dirty="0" err="1"/>
              <a:t>user_id</a:t>
            </a:r>
            <a:r>
              <a:rPr lang="en-US" b="1" dirty="0"/>
              <a:t>)</a:t>
            </a:r>
            <a:r>
              <a:rPr lang="en-US" dirty="0"/>
              <a:t> in the </a:t>
            </a:r>
            <a:r>
              <a:rPr lang="en-US" b="1" dirty="0"/>
              <a:t>Revision</a:t>
            </a:r>
            <a:r>
              <a:rPr lang="en-US" dirty="0"/>
              <a:t> table.</a:t>
            </a:r>
          </a:p>
          <a:p>
            <a:r>
              <a:rPr lang="en-US" dirty="0"/>
              <a:t>This foreign key connects each revision record to the user who made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95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8600" y="3505200"/>
            <a:ext cx="86106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REVISION-TEXT</a:t>
            </a:r>
          </a:p>
          <a:p>
            <a:r>
              <a:rPr lang="en-US" sz="2400" dirty="0"/>
              <a:t>One-to-One (1:1)</a:t>
            </a:r>
          </a:p>
          <a:p>
            <a:r>
              <a:rPr lang="en-US" sz="2400" dirty="0"/>
              <a:t>Each </a:t>
            </a:r>
            <a:r>
              <a:rPr lang="en-US" sz="2400" b="1" dirty="0"/>
              <a:t>Revision</a:t>
            </a:r>
            <a:r>
              <a:rPr lang="en-US" sz="2400" dirty="0"/>
              <a:t> contains </a:t>
            </a:r>
            <a:r>
              <a:rPr lang="en-US" sz="2400" b="1" dirty="0"/>
              <a:t>exactly one Text</a:t>
            </a:r>
            <a:r>
              <a:rPr lang="en-US" sz="2400" dirty="0"/>
              <a:t> (the actual edited content).</a:t>
            </a:r>
          </a:p>
          <a:p>
            <a:r>
              <a:rPr lang="en-US" sz="2400" dirty="0"/>
              <a:t>Each </a:t>
            </a:r>
            <a:r>
              <a:rPr lang="en-US" sz="2400" b="1" dirty="0"/>
              <a:t>Text</a:t>
            </a:r>
            <a:r>
              <a:rPr lang="en-US" sz="2400" dirty="0"/>
              <a:t> belongs to </a:t>
            </a:r>
            <a:r>
              <a:rPr lang="en-US" sz="2400" b="1" dirty="0"/>
              <a:t>exactly one Revision</a:t>
            </a:r>
            <a:r>
              <a:rPr lang="en-US" sz="2400" dirty="0"/>
              <a:t>.</a:t>
            </a:r>
          </a:p>
          <a:p>
            <a:r>
              <a:rPr lang="en-US" sz="2400" dirty="0"/>
              <a:t>We add the </a:t>
            </a:r>
            <a:r>
              <a:rPr lang="en-US" sz="2400" b="1" dirty="0"/>
              <a:t>foreign key (</a:t>
            </a:r>
            <a:r>
              <a:rPr lang="en-US" sz="2400" b="1" dirty="0" err="1"/>
              <a:t>text_id</a:t>
            </a:r>
            <a:r>
              <a:rPr lang="en-US" sz="2400" b="1" dirty="0"/>
              <a:t>)</a:t>
            </a:r>
            <a:r>
              <a:rPr lang="en-US" sz="2400" dirty="0"/>
              <a:t> in the </a:t>
            </a:r>
            <a:r>
              <a:rPr lang="en-US" sz="2400" b="1" dirty="0"/>
              <a:t>Revision</a:t>
            </a:r>
            <a:r>
              <a:rPr lang="en-US" sz="2400" dirty="0"/>
              <a:t> table.</a:t>
            </a:r>
          </a:p>
          <a:p>
            <a:r>
              <a:rPr lang="en-US" sz="2400" dirty="0"/>
              <a:t>Each revision will reference exactly one text record from the </a:t>
            </a:r>
            <a:r>
              <a:rPr lang="en-US" sz="2400" b="1" dirty="0"/>
              <a:t>Text</a:t>
            </a:r>
            <a:r>
              <a:rPr lang="en-US" sz="2400" dirty="0"/>
              <a:t> table.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21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88392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3200400"/>
            <a:ext cx="8839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 – CATEGORY</a:t>
            </a:r>
          </a:p>
          <a:p>
            <a:endParaRPr lang="en-US" b="1" dirty="0"/>
          </a:p>
          <a:p>
            <a:r>
              <a:rPr lang="en-US" dirty="0"/>
              <a:t>Many-to-Many (M:N)</a:t>
            </a:r>
          </a:p>
          <a:p>
            <a:r>
              <a:rPr lang="en-US" dirty="0"/>
              <a:t>One </a:t>
            </a:r>
            <a:r>
              <a:rPr lang="en-US" b="1" dirty="0"/>
              <a:t>Page</a:t>
            </a:r>
            <a:r>
              <a:rPr lang="en-US" dirty="0"/>
              <a:t> can belong to </a:t>
            </a:r>
            <a:r>
              <a:rPr lang="en-US" b="1" dirty="0"/>
              <a:t>multiple Categories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(e.g., a page “Database Management” might belong to both “Computer Science” and “Data Storage”.)</a:t>
            </a:r>
            <a:endParaRPr lang="en-US" dirty="0"/>
          </a:p>
          <a:p>
            <a:r>
              <a:rPr lang="en-US" dirty="0"/>
              <a:t>One </a:t>
            </a:r>
            <a:r>
              <a:rPr lang="en-US" b="1" dirty="0"/>
              <a:t>Category</a:t>
            </a:r>
            <a:r>
              <a:rPr lang="en-US" dirty="0"/>
              <a:t> can contain </a:t>
            </a:r>
            <a:r>
              <a:rPr lang="en-US" b="1" dirty="0"/>
              <a:t>multiple Pages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(e.g., “Programming” category might include “C Language”, “Java”, and “Python” pages.)</a:t>
            </a:r>
            <a:endParaRPr lang="en-US" dirty="0"/>
          </a:p>
          <a:p>
            <a:r>
              <a:rPr lang="en-US" dirty="0"/>
              <a:t>Therefore, we introduce a </a:t>
            </a:r>
            <a:r>
              <a:rPr lang="en-US" b="1" dirty="0"/>
              <a:t>junction (bridge) table</a:t>
            </a:r>
            <a:r>
              <a:rPr lang="en-US" dirty="0"/>
              <a:t> called </a:t>
            </a:r>
            <a:r>
              <a:rPr lang="en-US" dirty="0" err="1"/>
              <a:t>Page_category_link</a:t>
            </a:r>
            <a:r>
              <a:rPr lang="en-US" dirty="0"/>
              <a:t> to break it into </a:t>
            </a:r>
            <a:r>
              <a:rPr lang="en-US" b="1" dirty="0"/>
              <a:t>two one-to-many relationships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1340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3276600"/>
            <a:ext cx="87630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PAGE – PAGE_RESTRICTION</a:t>
            </a:r>
          </a:p>
          <a:p>
            <a:r>
              <a:rPr lang="en-US" sz="2400" dirty="0"/>
              <a:t>One-to-One (1:1)</a:t>
            </a:r>
          </a:p>
          <a:p>
            <a:r>
              <a:rPr lang="en-US" sz="2400" dirty="0"/>
              <a:t>Each </a:t>
            </a:r>
            <a:r>
              <a:rPr lang="en-US" sz="2400" b="1" dirty="0"/>
              <a:t>Page</a:t>
            </a:r>
            <a:r>
              <a:rPr lang="en-US" sz="2400" dirty="0"/>
              <a:t> can have </a:t>
            </a:r>
            <a:r>
              <a:rPr lang="en-US" sz="2400" b="1" dirty="0"/>
              <a:t>at most one restriction</a:t>
            </a:r>
            <a:r>
              <a:rPr lang="en-US" sz="2400" dirty="0"/>
              <a:t> (for example, “edit restricted to admins” or “read-only”).</a:t>
            </a:r>
          </a:p>
          <a:p>
            <a:r>
              <a:rPr lang="en-US" sz="2400" dirty="0"/>
              <a:t>Each </a:t>
            </a:r>
            <a:r>
              <a:rPr lang="en-US" sz="2400" b="1" dirty="0" err="1"/>
              <a:t>Page_Restriction</a:t>
            </a:r>
            <a:r>
              <a:rPr lang="en-US" sz="2400" dirty="0"/>
              <a:t> entry applies to exactly </a:t>
            </a:r>
            <a:r>
              <a:rPr lang="en-US" sz="2400" b="1" dirty="0"/>
              <a:t>one Page</a:t>
            </a:r>
            <a:r>
              <a:rPr lang="en-US" sz="2400" dirty="0"/>
              <a:t>.</a:t>
            </a:r>
          </a:p>
          <a:p>
            <a:r>
              <a:rPr lang="en-US" sz="2400" dirty="0"/>
              <a:t>We add the </a:t>
            </a:r>
            <a:r>
              <a:rPr lang="en-US" sz="2400" b="1" dirty="0"/>
              <a:t>foreign key (</a:t>
            </a:r>
            <a:r>
              <a:rPr lang="en-US" sz="2400" b="1" dirty="0" err="1"/>
              <a:t>page_id</a:t>
            </a:r>
            <a:r>
              <a:rPr lang="en-US" sz="2400" b="1" dirty="0"/>
              <a:t>)</a:t>
            </a:r>
            <a:r>
              <a:rPr lang="en-US" sz="2400" dirty="0"/>
              <a:t> in the </a:t>
            </a:r>
            <a:r>
              <a:rPr lang="en-US" sz="2400" b="1" dirty="0" err="1"/>
              <a:t>Page_restriction</a:t>
            </a:r>
            <a:r>
              <a:rPr lang="en-US" sz="2400" dirty="0"/>
              <a:t> table.</a:t>
            </a:r>
          </a:p>
          <a:p>
            <a:r>
              <a:rPr lang="en-US" sz="2400" dirty="0"/>
              <a:t>Each restriction record will refer to the page it belongs to.</a:t>
            </a:r>
          </a:p>
        </p:txBody>
      </p:sp>
    </p:spTree>
    <p:extLst>
      <p:ext uri="{BB962C8B-B14F-4D97-AF65-F5344CB8AC3E}">
        <p14:creationId xmlns:p14="http://schemas.microsoft.com/office/powerpoint/2010/main" val="2597435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3505200"/>
            <a:ext cx="8763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WATCHLIST – PAGE</a:t>
            </a:r>
          </a:p>
          <a:p>
            <a:r>
              <a:rPr lang="en-US" dirty="0"/>
              <a:t>Many-to-Many (M:N)</a:t>
            </a:r>
          </a:p>
          <a:p>
            <a:r>
              <a:rPr lang="en-US" dirty="0"/>
              <a:t>A </a:t>
            </a:r>
            <a:r>
              <a:rPr lang="en-US" b="1" dirty="0"/>
              <a:t>User’s </a:t>
            </a:r>
            <a:r>
              <a:rPr lang="en-US" b="1" dirty="0" err="1"/>
              <a:t>Watchlist</a:t>
            </a:r>
            <a:r>
              <a:rPr lang="en-US" dirty="0"/>
              <a:t> can contain </a:t>
            </a:r>
            <a:r>
              <a:rPr lang="en-US" b="1" dirty="0"/>
              <a:t>many Pages</a:t>
            </a:r>
            <a:r>
              <a:rPr lang="en-US" dirty="0"/>
              <a:t> they are tracking.</a:t>
            </a:r>
          </a:p>
          <a:p>
            <a:r>
              <a:rPr lang="en-US" dirty="0"/>
              <a:t>A </a:t>
            </a:r>
            <a:r>
              <a:rPr lang="en-US" b="1" dirty="0"/>
              <a:t>Page</a:t>
            </a:r>
            <a:r>
              <a:rPr lang="en-US" dirty="0"/>
              <a:t> can appear in </a:t>
            </a:r>
            <a:r>
              <a:rPr lang="en-US" b="1" dirty="0"/>
              <a:t>many Users’ </a:t>
            </a:r>
            <a:r>
              <a:rPr lang="en-US" b="1" dirty="0" err="1"/>
              <a:t>Watchlists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User’s </a:t>
            </a:r>
            <a:r>
              <a:rPr lang="en-US" b="1" dirty="0" err="1"/>
              <a:t>Watchlist</a:t>
            </a:r>
            <a:r>
              <a:rPr lang="en-US" dirty="0"/>
              <a:t> can contain </a:t>
            </a:r>
            <a:r>
              <a:rPr lang="en-US" b="1" dirty="0"/>
              <a:t>many Pages</a:t>
            </a:r>
            <a:r>
              <a:rPr lang="en-US" dirty="0"/>
              <a:t> they are tracking.</a:t>
            </a:r>
          </a:p>
          <a:p>
            <a:r>
              <a:rPr lang="en-US" dirty="0"/>
              <a:t>A </a:t>
            </a:r>
            <a:r>
              <a:rPr lang="en-US" b="1" dirty="0"/>
              <a:t>Page</a:t>
            </a:r>
            <a:r>
              <a:rPr lang="en-US" dirty="0"/>
              <a:t> can appear in </a:t>
            </a:r>
            <a:r>
              <a:rPr lang="en-US" b="1" dirty="0"/>
              <a:t>many Users’ </a:t>
            </a:r>
            <a:r>
              <a:rPr lang="en-US" b="1" dirty="0" err="1"/>
              <a:t>Watchlists</a:t>
            </a:r>
            <a:r>
              <a:rPr lang="en-US" dirty="0"/>
              <a:t>.</a:t>
            </a:r>
          </a:p>
          <a:p>
            <a:r>
              <a:rPr lang="en-US" dirty="0"/>
              <a:t>we typically represent this through a </a:t>
            </a:r>
            <a:r>
              <a:rPr lang="en-US" b="1" dirty="0" err="1"/>
              <a:t>Watchlist</a:t>
            </a:r>
            <a:r>
              <a:rPr lang="en-US" b="1" dirty="0"/>
              <a:t> table</a:t>
            </a:r>
            <a:r>
              <a:rPr lang="en-US" dirty="0"/>
              <a:t> that includes both the </a:t>
            </a:r>
            <a:r>
              <a:rPr lang="en-US" dirty="0" err="1"/>
              <a:t>user_id</a:t>
            </a:r>
            <a:r>
              <a:rPr lang="en-US" dirty="0"/>
              <a:t> and </a:t>
            </a:r>
            <a:r>
              <a:rPr lang="en-US" dirty="0" err="1"/>
              <a:t>page_id</a:t>
            </a:r>
            <a:r>
              <a:rPr lang="en-US" dirty="0"/>
              <a:t> — effectively acting as a </a:t>
            </a:r>
            <a:r>
              <a:rPr lang="en-US" b="1" dirty="0"/>
              <a:t>bridge</a:t>
            </a:r>
            <a:r>
              <a:rPr lang="en-US" dirty="0"/>
              <a:t> between User and Page.</a:t>
            </a:r>
          </a:p>
          <a:p>
            <a:r>
              <a:rPr lang="en-US" dirty="0"/>
              <a:t>we merge it by introducing a </a:t>
            </a:r>
            <a:r>
              <a:rPr lang="en-US" b="1" dirty="0"/>
              <a:t>bridge table</a:t>
            </a:r>
            <a:r>
              <a:rPr lang="en-US" dirty="0"/>
              <a:t> called </a:t>
            </a:r>
            <a:r>
              <a:rPr lang="en-US" dirty="0" err="1"/>
              <a:t>Watchlist</a:t>
            </a:r>
            <a:r>
              <a:rPr lang="en-US" dirty="0"/>
              <a:t>, which connects both User and Page using foreign keys.</a:t>
            </a:r>
          </a:p>
          <a:p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317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7550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8600" y="3810000"/>
            <a:ext cx="86868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– PAGE</a:t>
            </a:r>
          </a:p>
          <a:p>
            <a:endParaRPr lang="en-US" b="1" dirty="0"/>
          </a:p>
          <a:p>
            <a:r>
              <a:rPr lang="en-US" sz="2000" dirty="0"/>
              <a:t>One-to-Many (1:N)</a:t>
            </a:r>
          </a:p>
          <a:p>
            <a:r>
              <a:rPr lang="en-US" sz="2000" dirty="0"/>
              <a:t>One </a:t>
            </a:r>
            <a:r>
              <a:rPr lang="en-US" sz="2000" b="1" dirty="0"/>
              <a:t>User</a:t>
            </a:r>
            <a:r>
              <a:rPr lang="en-US" sz="2000" dirty="0"/>
              <a:t> can create </a:t>
            </a:r>
            <a:r>
              <a:rPr lang="en-US" sz="2000" b="1" dirty="0"/>
              <a:t>many Pages</a:t>
            </a:r>
            <a:r>
              <a:rPr lang="en-US" sz="2000" dirty="0"/>
              <a:t>.</a:t>
            </a:r>
          </a:p>
          <a:p>
            <a:r>
              <a:rPr lang="en-US" sz="2000" dirty="0"/>
              <a:t>Each </a:t>
            </a:r>
            <a:r>
              <a:rPr lang="en-US" sz="2000" b="1" dirty="0"/>
              <a:t>Page</a:t>
            </a:r>
            <a:r>
              <a:rPr lang="en-US" sz="2000" dirty="0"/>
              <a:t> is created by </a:t>
            </a:r>
            <a:r>
              <a:rPr lang="en-US" sz="2000" b="1" dirty="0"/>
              <a:t>exactly one User</a:t>
            </a:r>
            <a:r>
              <a:rPr lang="en-US" sz="2000" dirty="0"/>
              <a:t>.</a:t>
            </a:r>
          </a:p>
          <a:p>
            <a:r>
              <a:rPr lang="en-US" sz="2000" dirty="0"/>
              <a:t>We add a </a:t>
            </a:r>
            <a:r>
              <a:rPr lang="en-US" sz="2000" b="1" dirty="0"/>
              <a:t>foreign key (</a:t>
            </a:r>
            <a:r>
              <a:rPr lang="en-US" sz="2000" b="1" dirty="0" err="1"/>
              <a:t>user_id</a:t>
            </a:r>
            <a:r>
              <a:rPr lang="en-US" sz="2000" b="1" dirty="0"/>
              <a:t>)</a:t>
            </a:r>
            <a:r>
              <a:rPr lang="en-US" sz="2000" dirty="0"/>
              <a:t> inside the </a:t>
            </a:r>
            <a:r>
              <a:rPr lang="en-US" sz="2000" b="1" dirty="0"/>
              <a:t>Page</a:t>
            </a:r>
            <a:r>
              <a:rPr lang="en-US" sz="2000" dirty="0"/>
              <a:t> table.</a:t>
            </a:r>
          </a:p>
          <a:p>
            <a:r>
              <a:rPr lang="en-US" sz="2000" dirty="0"/>
              <a:t>Each Page record will store the </a:t>
            </a:r>
            <a:r>
              <a:rPr lang="en-US" sz="2000" dirty="0" err="1"/>
              <a:t>user_id</a:t>
            </a:r>
            <a:r>
              <a:rPr lang="en-US" sz="2000" dirty="0"/>
              <a:t> of the user who created it.</a:t>
            </a:r>
          </a:p>
          <a:p>
            <a:r>
              <a:rPr lang="en-US" sz="2000" dirty="0"/>
              <a:t>This allows us to know </a:t>
            </a:r>
            <a:r>
              <a:rPr lang="en-US" sz="2000" b="1" dirty="0"/>
              <a:t>which user created which page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53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8392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" y="3733800"/>
            <a:ext cx="8610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PAGE – REVISION</a:t>
            </a:r>
          </a:p>
          <a:p>
            <a:r>
              <a:rPr lang="en-US" sz="2000" dirty="0"/>
              <a:t>One-to-Many (1:N)</a:t>
            </a:r>
          </a:p>
          <a:p>
            <a:r>
              <a:rPr lang="en-US" sz="2000" dirty="0"/>
              <a:t>One </a:t>
            </a:r>
            <a:r>
              <a:rPr lang="en-US" sz="2000" b="1" dirty="0"/>
              <a:t>Page</a:t>
            </a:r>
            <a:r>
              <a:rPr lang="en-US" sz="2000" dirty="0"/>
              <a:t> can have </a:t>
            </a:r>
            <a:r>
              <a:rPr lang="en-US" sz="2000" b="1" dirty="0"/>
              <a:t>many Revisions</a:t>
            </a:r>
            <a:r>
              <a:rPr lang="en-US" sz="2000" dirty="0"/>
              <a:t> (as users edit and update it over time).</a:t>
            </a:r>
          </a:p>
          <a:p>
            <a:r>
              <a:rPr lang="en-US" sz="2000" dirty="0"/>
              <a:t>Each </a:t>
            </a:r>
            <a:r>
              <a:rPr lang="en-US" sz="2000" b="1" dirty="0"/>
              <a:t>Revision</a:t>
            </a:r>
            <a:r>
              <a:rPr lang="en-US" sz="2000" dirty="0"/>
              <a:t> belongs to </a:t>
            </a:r>
            <a:r>
              <a:rPr lang="en-US" sz="2000" b="1" dirty="0"/>
              <a:t>exactly one Page</a:t>
            </a:r>
            <a:r>
              <a:rPr lang="en-US" sz="2000" dirty="0"/>
              <a:t>.</a:t>
            </a:r>
          </a:p>
          <a:p>
            <a:r>
              <a:rPr lang="en-US" sz="2000" dirty="0"/>
              <a:t>We add a </a:t>
            </a:r>
            <a:r>
              <a:rPr lang="en-US" sz="2000" b="1" dirty="0"/>
              <a:t>foreign key (</a:t>
            </a:r>
            <a:r>
              <a:rPr lang="en-US" sz="2000" b="1" dirty="0" err="1"/>
              <a:t>page_id</a:t>
            </a:r>
            <a:r>
              <a:rPr lang="en-US" sz="2000" b="1" dirty="0"/>
              <a:t>)</a:t>
            </a:r>
            <a:r>
              <a:rPr lang="en-US" sz="2000" dirty="0"/>
              <a:t> in the </a:t>
            </a:r>
            <a:r>
              <a:rPr lang="en-US" sz="2000" b="1" dirty="0"/>
              <a:t>Revision</a:t>
            </a:r>
            <a:r>
              <a:rPr lang="en-US" sz="2000" dirty="0"/>
              <a:t> table.</a:t>
            </a:r>
          </a:p>
          <a:p>
            <a:r>
              <a:rPr lang="en-US" sz="2000" dirty="0"/>
              <a:t>Each revision will store the ID of the page it belongs to.</a:t>
            </a:r>
          </a:p>
        </p:txBody>
      </p:sp>
    </p:spTree>
    <p:extLst>
      <p:ext uri="{BB962C8B-B14F-4D97-AF65-F5344CB8AC3E}">
        <p14:creationId xmlns:p14="http://schemas.microsoft.com/office/powerpoint/2010/main" val="1079211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AutoShape 4" descr="blob:https://web.whatsapp.com/5bb5276c-09b9-43a3-acee-36c0adc77c6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blob:https://web.whatsapp.com/5bb5276c-09b9-43a3-acee-36c0adc77c64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blob:https://web.whatsapp.com/5bb5276c-09b9-43a3-acee-36c0adc77c64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blob:https://web.whatsapp.com/5bb5276c-09b9-43a3-acee-36c0adc77c64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54117"/>
            <a:ext cx="8759825" cy="3198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55575" y="3429000"/>
            <a:ext cx="875982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LOG – PAGE</a:t>
            </a:r>
          </a:p>
          <a:p>
            <a:r>
              <a:rPr lang="en-US" sz="2400" dirty="0"/>
              <a:t>Many-to-One (N:1)</a:t>
            </a:r>
          </a:p>
          <a:p>
            <a:r>
              <a:rPr lang="en-US" sz="2400" dirty="0"/>
              <a:t>Each </a:t>
            </a:r>
            <a:r>
              <a:rPr lang="en-US" sz="2400" b="1" dirty="0"/>
              <a:t>Log entry</a:t>
            </a:r>
            <a:r>
              <a:rPr lang="en-US" sz="2400" dirty="0"/>
              <a:t> refers to </a:t>
            </a:r>
            <a:r>
              <a:rPr lang="en-US" sz="2400" b="1" dirty="0"/>
              <a:t>one Page</a:t>
            </a:r>
            <a:r>
              <a:rPr lang="en-US" sz="2400" dirty="0"/>
              <a:t> (for example, a log entry like “User edited Page X”).</a:t>
            </a:r>
          </a:p>
          <a:p>
            <a:r>
              <a:rPr lang="en-US" sz="2400" dirty="0"/>
              <a:t>One </a:t>
            </a:r>
            <a:r>
              <a:rPr lang="en-US" sz="2400" b="1" dirty="0"/>
              <a:t>Page</a:t>
            </a:r>
            <a:r>
              <a:rPr lang="en-US" sz="2400" dirty="0"/>
              <a:t> can have </a:t>
            </a:r>
            <a:r>
              <a:rPr lang="en-US" sz="2400" b="1" dirty="0"/>
              <a:t>many Logs</a:t>
            </a:r>
            <a:r>
              <a:rPr lang="en-US" sz="2400" dirty="0"/>
              <a:t> recorded against it (for edits, deletions, protection, etc.).</a:t>
            </a:r>
          </a:p>
          <a:p>
            <a:r>
              <a:rPr lang="en-US" sz="2400" dirty="0"/>
              <a:t>We add a </a:t>
            </a:r>
            <a:r>
              <a:rPr lang="en-US" sz="2400" b="1" dirty="0"/>
              <a:t>foreign key (</a:t>
            </a:r>
            <a:r>
              <a:rPr lang="en-US" sz="2400" b="1" dirty="0" err="1"/>
              <a:t>page_id</a:t>
            </a:r>
            <a:r>
              <a:rPr lang="en-US" sz="2400" b="1" dirty="0"/>
              <a:t>)</a:t>
            </a:r>
            <a:r>
              <a:rPr lang="en-US" sz="2400" dirty="0"/>
              <a:t> in the </a:t>
            </a:r>
            <a:r>
              <a:rPr lang="en-US" sz="2400" b="1" dirty="0"/>
              <a:t>Log</a:t>
            </a:r>
            <a:r>
              <a:rPr lang="en-US" sz="2400" dirty="0"/>
              <a:t> table.</a:t>
            </a:r>
          </a:p>
          <a:p>
            <a:r>
              <a:rPr lang="en-US" sz="2400" dirty="0"/>
              <a:t>Each log record stores which page it refers to.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487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88392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2400" y="3124200"/>
            <a:ext cx="8763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TalkComment-TalkPage</a:t>
            </a:r>
            <a:endParaRPr lang="en-US" sz="2400" b="1" dirty="0"/>
          </a:p>
          <a:p>
            <a:r>
              <a:rPr lang="en-US" sz="2400" b="1" dirty="0"/>
              <a:t>One-to-Many</a:t>
            </a:r>
            <a:br>
              <a:rPr lang="en-US" sz="2400" dirty="0"/>
            </a:br>
            <a:r>
              <a:rPr lang="en-US" sz="2400" dirty="0"/>
              <a:t>(Each talk page can have multiple comments, but each comment belongs to one talk page)</a:t>
            </a:r>
          </a:p>
          <a:p>
            <a:r>
              <a:rPr lang="en-US" sz="2400" dirty="0"/>
              <a:t>A </a:t>
            </a:r>
            <a:r>
              <a:rPr lang="en-US" sz="2400" b="1" dirty="0"/>
              <a:t>Talk Page</a:t>
            </a:r>
            <a:r>
              <a:rPr lang="en-US" sz="2400" dirty="0"/>
              <a:t> can have </a:t>
            </a:r>
            <a:r>
              <a:rPr lang="en-US" sz="2400" b="1" dirty="0"/>
              <a:t>many comments</a:t>
            </a:r>
            <a:r>
              <a:rPr lang="en-US" sz="2400" dirty="0"/>
              <a:t>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Talk Comment</a:t>
            </a:r>
            <a:r>
              <a:rPr lang="en-US" sz="2400" dirty="0"/>
              <a:t> </a:t>
            </a:r>
            <a:r>
              <a:rPr lang="en-US" sz="2400" b="1" dirty="0"/>
              <a:t>belongs to one</a:t>
            </a:r>
            <a:r>
              <a:rPr lang="en-US" sz="2400" dirty="0"/>
              <a:t> specific talk page.</a:t>
            </a:r>
          </a:p>
          <a:p>
            <a:r>
              <a:rPr lang="en-US" sz="2400" dirty="0"/>
              <a:t>The foreign key </a:t>
            </a:r>
            <a:r>
              <a:rPr lang="en-US" sz="2400" dirty="0" err="1"/>
              <a:t>talk_page_id</a:t>
            </a:r>
            <a:r>
              <a:rPr lang="en-US" sz="2400" dirty="0"/>
              <a:t> was added into </a:t>
            </a:r>
            <a:r>
              <a:rPr lang="en-US" sz="2400" dirty="0" err="1"/>
              <a:t>talk_comment</a:t>
            </a:r>
            <a:r>
              <a:rPr lang="en-US" sz="2400" dirty="0"/>
              <a:t> to explicitly establish the </a:t>
            </a:r>
            <a:r>
              <a:rPr lang="en-US" sz="2400" b="1" dirty="0"/>
              <a:t>one-to-many</a:t>
            </a:r>
            <a:r>
              <a:rPr lang="en-US" sz="2400" dirty="0"/>
              <a:t> relationship.</a:t>
            </a:r>
          </a:p>
        </p:txBody>
      </p:sp>
    </p:spTree>
    <p:extLst>
      <p:ext uri="{BB962C8B-B14F-4D97-AF65-F5344CB8AC3E}">
        <p14:creationId xmlns:p14="http://schemas.microsoft.com/office/powerpoint/2010/main" val="431204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blob:https://web.whatsapp.com/55b09453-1fbd-46f8-b7af-6da86b7a55f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blob:https://web.whatsapp.com/55b09453-1fbd-46f8-b7af-6da86b7a55f6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blob:https://web.whatsapp.com/55b09453-1fbd-46f8-b7af-6da86b7a55f6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blob:https://web.whatsapp.com/55b09453-1fbd-46f8-b7af-6da86b7a55f6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blob:https://web.whatsapp.com/55b09453-1fbd-46f8-b7af-6da86b7a55f6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2" descr="blob:https://web.whatsapp.com/55b09453-1fbd-46f8-b7af-6da86b7a55f6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4" descr="blob:https://web.whatsapp.com/55b09453-1fbd-46f8-b7af-6da86b7a55f6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51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6" y="160337"/>
            <a:ext cx="8836024" cy="368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55576" y="3962400"/>
            <a:ext cx="88360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One-to-One (1:1)</a:t>
            </a:r>
          </a:p>
          <a:p>
            <a:r>
              <a:rPr lang="en-US" dirty="0"/>
              <a:t>Each </a:t>
            </a:r>
            <a:r>
              <a:rPr lang="en-US" b="1" dirty="0"/>
              <a:t>page</a:t>
            </a:r>
            <a:r>
              <a:rPr lang="en-US" dirty="0"/>
              <a:t> can have </a:t>
            </a:r>
            <a:r>
              <a:rPr lang="en-US" b="1" dirty="0"/>
              <a:t>one corresponding talk page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each </a:t>
            </a:r>
            <a:r>
              <a:rPr lang="en-US" b="1" dirty="0"/>
              <a:t>talk page</a:t>
            </a:r>
            <a:r>
              <a:rPr lang="en-US" dirty="0"/>
              <a:t> belongs to </a:t>
            </a:r>
            <a:r>
              <a:rPr lang="en-US" b="1" dirty="0"/>
              <a:t>one specific page</a:t>
            </a:r>
            <a:r>
              <a:rPr lang="en-US" dirty="0"/>
              <a:t>.</a:t>
            </a:r>
          </a:p>
          <a:p>
            <a:r>
              <a:rPr lang="en-US" dirty="0"/>
              <a:t>A talk page is </a:t>
            </a:r>
            <a:r>
              <a:rPr lang="en-US" b="1" dirty="0"/>
              <a:t>not independent</a:t>
            </a:r>
            <a:r>
              <a:rPr lang="en-US" dirty="0"/>
              <a:t>; it always corresponds to exactly </a:t>
            </a:r>
            <a:r>
              <a:rPr lang="en-US" b="1" dirty="0"/>
              <a:t>one page</a:t>
            </a:r>
            <a:r>
              <a:rPr lang="en-US" dirty="0"/>
              <a:t> (like in Wikipedia).</a:t>
            </a:r>
          </a:p>
          <a:p>
            <a:r>
              <a:rPr lang="en-US" dirty="0"/>
              <a:t>Each article page has at most </a:t>
            </a:r>
            <a:r>
              <a:rPr lang="en-US" b="1" dirty="0"/>
              <a:t>one talk page</a:t>
            </a:r>
            <a:r>
              <a:rPr lang="en-US" dirty="0"/>
              <a:t>.</a:t>
            </a:r>
          </a:p>
          <a:p>
            <a:r>
              <a:rPr lang="en-US" dirty="0"/>
              <a:t>The talk page </a:t>
            </a:r>
            <a:r>
              <a:rPr lang="en-US" b="1" dirty="0"/>
              <a:t>cannot exist</a:t>
            </a:r>
            <a:r>
              <a:rPr lang="en-US" dirty="0"/>
              <a:t> without the main page.</a:t>
            </a:r>
          </a:p>
          <a:p>
            <a:r>
              <a:rPr lang="en-US" dirty="0"/>
              <a:t>The </a:t>
            </a:r>
            <a:r>
              <a:rPr lang="en-US" b="1" dirty="0"/>
              <a:t>foreign key </a:t>
            </a:r>
            <a:r>
              <a:rPr lang="en-US" b="1" dirty="0" err="1"/>
              <a:t>page_id</a:t>
            </a:r>
            <a:r>
              <a:rPr lang="en-US" dirty="0"/>
              <a:t> was added to </a:t>
            </a:r>
            <a:r>
              <a:rPr lang="en-US" dirty="0" err="1"/>
              <a:t>talk_pages</a:t>
            </a:r>
            <a:r>
              <a:rPr lang="en-US" dirty="0"/>
              <a:t> to represent that relationship directly.</a:t>
            </a:r>
          </a:p>
        </p:txBody>
      </p:sp>
    </p:spTree>
    <p:extLst>
      <p:ext uri="{BB962C8B-B14F-4D97-AF65-F5344CB8AC3E}">
        <p14:creationId xmlns:p14="http://schemas.microsoft.com/office/powerpoint/2010/main" val="4153047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315</TotalTime>
  <Words>1112</Words>
  <Application>Microsoft Office PowerPoint</Application>
  <PresentationFormat>On-screen Show (4:3)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Georgia</vt:lpstr>
      <vt:lpstr>Wingdings</vt:lpstr>
      <vt:lpstr>Wingdings 2</vt:lpstr>
      <vt:lpstr>Civic</vt:lpstr>
      <vt:lpstr>Blog Management System (Wikipedia)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 KUMAR</dc:creator>
  <cp:lastModifiedBy>Rishabh Omar</cp:lastModifiedBy>
  <cp:revision>31</cp:revision>
  <dcterms:created xsi:type="dcterms:W3CDTF">2025-11-06T13:44:41Z</dcterms:created>
  <dcterms:modified xsi:type="dcterms:W3CDTF">2026-09-12T17:13:39Z</dcterms:modified>
</cp:coreProperties>
</file>